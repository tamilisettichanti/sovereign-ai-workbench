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7"/>
  </p:notesMasterIdLst>
  <p:handoutMasterIdLst>
    <p:handoutMasterId r:id="rId8"/>
  </p:handoutMasterIdLst>
  <p:sldIdLst>
    <p:sldId id="502" r:id="rId3"/>
    <p:sldId id="505" r:id="rId4"/>
    <p:sldId id="504" r:id="rId5"/>
    <p:sldId id="508" r:id="rId6"/>
  </p:sldIdLst>
  <p:sldSz cx="12192000" cy="6858000"/>
  <p:notesSz cx="7010400" cy="9296400"/>
  <p:embeddedFontLst>
    <p:embeddedFont>
      <p:font typeface="Segoe UI" panose="020B0502040204020203" pitchFamily="34" charset="0"/>
      <p:regular r:id="rId12"/>
      <p:bold r:id="rId13"/>
      <p:italic r:id="rId14"/>
      <p:boldItalic r:id="rId15"/>
    </p:embeddedFont>
    <p:embeddedFont>
      <p:font typeface="Allura" panose="02000000000000000000" pitchFamily="2" charset="0"/>
      <p:regular r:id="rId16"/>
    </p:embeddedFont>
    <p:embeddedFont>
      <p:font typeface="Cambria" panose="02040503050406030204" pitchFamily="18" charset="0"/>
      <p:regular r:id="rId17"/>
      <p:bold r:id="rId18"/>
      <p:italic r:id="rId19"/>
      <p:boldItalic r:id="rId20"/>
    </p:embeddedFont>
    <p:embeddedFont>
      <p:font typeface="Calibri" panose="020F0502020204030204" charset="0"/>
      <p:regular r:id="rId21"/>
      <p:bold r:id="rId22"/>
      <p:italic r:id="rId23"/>
      <p:bold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id="{F50E7A29-14EC-A74C-8115-EFF96D771BD2}">
          <p14:sldIdLst>
            <p14:sldId id="502"/>
            <p14:sldId id="505"/>
            <p14:sldId id="504"/>
            <p14:sldId id="50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4074"/>
    <a:srgbClr val="92D050"/>
    <a:srgbClr val="002060"/>
    <a:srgbClr val="034A90"/>
    <a:srgbClr val="ED9505"/>
    <a:srgbClr val="FAA519"/>
    <a:srgbClr val="E8B80A"/>
    <a:srgbClr val="A6A6A6"/>
    <a:srgbClr val="E5E5F7"/>
    <a:srgbClr val="E7E9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3" autoAdjust="0"/>
    <p:restoredTop sz="94873"/>
  </p:normalViewPr>
  <p:slideViewPr>
    <p:cSldViewPr snapToGrid="0" snapToObjects="1" showGuides="1">
      <p:cViewPr varScale="1">
        <p:scale>
          <a:sx n="84" d="100"/>
          <a:sy n="84" d="100"/>
        </p:scale>
        <p:origin x="518" y="77"/>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98" d="100"/>
          <a:sy n="98" d="100"/>
        </p:scale>
        <p:origin x="3594" y="63"/>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handoutMaster" Target="handoutMasters/handoutMaster1.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font" Target="fonts/font13.fntdata"/><Relationship Id="rId23" Type="http://schemas.openxmlformats.org/officeDocument/2006/relationships/font" Target="fonts/font12.fntdata"/><Relationship Id="rId22" Type="http://schemas.openxmlformats.org/officeDocument/2006/relationships/font" Target="fonts/font11.fntdata"/><Relationship Id="rId21" Type="http://schemas.openxmlformats.org/officeDocument/2006/relationships/font" Target="fonts/font10.fntdata"/><Relationship Id="rId20" Type="http://schemas.openxmlformats.org/officeDocument/2006/relationships/font" Target="fonts/font9.fntdata"/><Relationship Id="rId2" Type="http://schemas.openxmlformats.org/officeDocument/2006/relationships/theme" Target="theme/theme1.xml"/><Relationship Id="rId19" Type="http://schemas.openxmlformats.org/officeDocument/2006/relationships/font" Target="fonts/font8.fntdata"/><Relationship Id="rId18" Type="http://schemas.openxmlformats.org/officeDocument/2006/relationships/font" Target="fonts/font7.fntdata"/><Relationship Id="rId17" Type="http://schemas.openxmlformats.org/officeDocument/2006/relationships/font" Target="fonts/font6.fntdata"/><Relationship Id="rId16" Type="http://schemas.openxmlformats.org/officeDocument/2006/relationships/font" Target="fonts/font5.fntdata"/><Relationship Id="rId15" Type="http://schemas.openxmlformats.org/officeDocument/2006/relationships/font" Target="fonts/font4.fntdata"/><Relationship Id="rId14" Type="http://schemas.openxmlformats.org/officeDocument/2006/relationships/font" Target="fonts/font3.fntdata"/><Relationship Id="rId13" Type="http://schemas.openxmlformats.org/officeDocument/2006/relationships/font" Target="fonts/font2.fntdata"/><Relationship Id="rId12" Type="http://schemas.openxmlformats.org/officeDocument/2006/relationships/font" Target="fonts/font1.fntdata"/><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IN"/>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FE90F88F-DDEE-4A9B-8846-40F206FEAD51}" type="datetimeFigureOut">
              <a:rPr lang="en-IN" smtClean="0"/>
            </a:fld>
            <a:endParaRPr lang="en-IN"/>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IN"/>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6B0873F1-1CD0-4691-B818-AB60E6C55711}" type="slidenum">
              <a:rPr lang="en-IN" smtClean="0"/>
            </a:fld>
            <a:endParaRPr lang="en-I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344847AB-3B75-FF4A-B0A2-6BEB5C2F7506}" type="datetimeFigureOut">
              <a:rPr lang="en-US" smtClean="0"/>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0DB9A84A-733A-0C47-AC2B-F0C70F83A7E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4" name="Picture 11" descr="PPT inside"/>
          <p:cNvPicPr>
            <a:picLocks noChangeAspect="1" noChangeArrowheads="1"/>
          </p:cNvPicPr>
          <p:nvPr userDrawn="1"/>
        </p:nvPicPr>
        <p:blipFill>
          <a:blip r:embed="rId2" cstate="screen"/>
          <a:srcRect/>
          <a:stretch>
            <a:fillRect/>
          </a:stretch>
        </p:blipFill>
        <p:spPr bwMode="auto">
          <a:xfrm>
            <a:off x="0" y="1"/>
            <a:ext cx="12192000"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a:spLocks noGrp="1"/>
          </p:cNvSpPr>
          <p:nvPr>
            <p:ph type="title" hasCustomPrompt="1"/>
          </p:nvPr>
        </p:nvSpPr>
        <p:spPr>
          <a:xfrm>
            <a:off x="1066469" y="1"/>
            <a:ext cx="10059063" cy="873125"/>
          </a:xfrm>
          <a:prstGeom prst="rect">
            <a:avLst/>
          </a:prstGeom>
        </p:spPr>
        <p:txBody>
          <a:bodyPr anchor="ctr"/>
          <a:lstStyle>
            <a:lvl1pPr>
              <a:defRPr/>
            </a:lvl1pPr>
          </a:lstStyle>
          <a:p>
            <a:r>
              <a:rPr lang="en-US" dirty="0"/>
              <a:t>Title Here</a:t>
            </a:r>
            <a:endParaRPr lang="en-IN" dirty="0"/>
          </a:p>
        </p:txBody>
      </p:sp>
      <p:sp>
        <p:nvSpPr>
          <p:cNvPr id="6" name="TextBox 5"/>
          <p:cNvSpPr txBox="1"/>
          <p:nvPr userDrawn="1"/>
        </p:nvSpPr>
        <p:spPr>
          <a:xfrm>
            <a:off x="536713" y="6500191"/>
            <a:ext cx="8927444" cy="230832"/>
          </a:xfrm>
          <a:prstGeom prst="rect">
            <a:avLst/>
          </a:prstGeom>
          <a:noFill/>
        </p:spPr>
        <p:txBody>
          <a:bodyPr wrap="none" rtlCol="0">
            <a:spAutoFit/>
          </a:bodyPr>
          <a:lstStyle/>
          <a:p>
            <a:r>
              <a:rPr lang="en-IN" sz="900" dirty="0">
                <a:solidFill>
                  <a:schemeClr val="accent6">
                    <a:lumMod val="75000"/>
                  </a:schemeClr>
                </a:solidFill>
                <a:latin typeface="Segoe UI" panose="020B0502040204020203" pitchFamily="34" charset="0"/>
                <a:cs typeface="Segoe UI" panose="020B0502040204020203" pitchFamily="34" charset="0"/>
              </a:rPr>
              <a:t>Humility | Entrepreneurship | Teamwork &amp; Respect for Individual | Deliver the Promise | Learning &amp; Inner Excellence | Social Responsibility | Financial Prudence - Frugality    </a:t>
            </a:r>
            <a:endParaRPr lang="en-IN" sz="900" dirty="0">
              <a:solidFill>
                <a:schemeClr val="accent6">
                  <a:lumMod val="75000"/>
                </a:schemeClr>
              </a:solidFill>
              <a:latin typeface="Segoe UI" panose="020B0502040204020203" pitchFamily="34" charset="0"/>
              <a:cs typeface="Segoe UI" panose="020B0502040204020203"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11" descr="PPT inside"/>
          <p:cNvPicPr>
            <a:picLocks noChangeAspect="1" noChangeArrowheads="1"/>
          </p:cNvPicPr>
          <p:nvPr userDrawn="1"/>
        </p:nvPicPr>
        <p:blipFill>
          <a:blip r:embed="rId2" cstate="screen"/>
          <a:srcRect/>
          <a:stretch>
            <a:fillRect/>
          </a:stretch>
        </p:blipFill>
        <p:spPr bwMode="auto">
          <a:xfrm>
            <a:off x="0" y="1"/>
            <a:ext cx="12192000"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p:cNvSpPr>
            <a:spLocks noGrp="1"/>
          </p:cNvSpPr>
          <p:nvPr>
            <p:ph type="title" hasCustomPrompt="1"/>
          </p:nvPr>
        </p:nvSpPr>
        <p:spPr>
          <a:xfrm>
            <a:off x="1066469" y="1"/>
            <a:ext cx="10059063" cy="873125"/>
          </a:xfrm>
          <a:prstGeom prst="rect">
            <a:avLst/>
          </a:prstGeom>
        </p:spPr>
        <p:txBody>
          <a:bodyPr anchor="ctr"/>
          <a:lstStyle>
            <a:lvl1pPr>
              <a:defRPr/>
            </a:lvl1pPr>
          </a:lstStyle>
          <a:p>
            <a:r>
              <a:rPr lang="en-US" dirty="0"/>
              <a:t>Title Here</a:t>
            </a:r>
            <a:endParaRPr lang="en-IN" dirty="0"/>
          </a:p>
        </p:txBody>
      </p:sp>
      <p:sp>
        <p:nvSpPr>
          <p:cNvPr id="5" name="TextBox 4"/>
          <p:cNvSpPr txBox="1"/>
          <p:nvPr userDrawn="1"/>
        </p:nvSpPr>
        <p:spPr>
          <a:xfrm>
            <a:off x="536713" y="6500191"/>
            <a:ext cx="8927444" cy="230832"/>
          </a:xfrm>
          <a:prstGeom prst="rect">
            <a:avLst/>
          </a:prstGeom>
          <a:noFill/>
        </p:spPr>
        <p:txBody>
          <a:bodyPr wrap="none" rtlCol="0">
            <a:spAutoFit/>
          </a:bodyPr>
          <a:lstStyle/>
          <a:p>
            <a:r>
              <a:rPr lang="en-IN" sz="900" dirty="0">
                <a:solidFill>
                  <a:schemeClr val="accent6">
                    <a:lumMod val="75000"/>
                  </a:schemeClr>
                </a:solidFill>
                <a:latin typeface="Segoe UI" panose="020B0502040204020203" pitchFamily="34" charset="0"/>
                <a:cs typeface="Segoe UI" panose="020B0502040204020203" pitchFamily="34" charset="0"/>
              </a:rPr>
              <a:t>Humility | Entrepreneurship | Teamwork &amp; Respect for Individual | Deliver the Promise | Learning &amp; Inner Excellence | Social Responsibility | Financial Prudence - Frugality    </a:t>
            </a:r>
            <a:endParaRPr lang="en-IN" sz="900" dirty="0">
              <a:solidFill>
                <a:schemeClr val="accent6">
                  <a:lumMod val="75000"/>
                </a:schemeClr>
              </a:solidFill>
              <a:latin typeface="Segoe UI" panose="020B0502040204020203" pitchFamily="34" charset="0"/>
              <a:cs typeface="Segoe UI" panose="020B0502040204020203" pitchFamily="34" charset="0"/>
            </a:endParaRP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49670" y="180890"/>
            <a:ext cx="1104438" cy="51134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ounded Rectangle 2"/>
          <p:cNvSpPr/>
          <p:nvPr userDrawn="1"/>
        </p:nvSpPr>
        <p:spPr bwMode="auto">
          <a:xfrm>
            <a:off x="0" y="0"/>
            <a:ext cx="12192000" cy="6858000"/>
          </a:xfrm>
          <a:prstGeom prst="roundRect">
            <a:avLst>
              <a:gd name="adj" fmla="val 0"/>
            </a:avLst>
          </a:prstGeom>
          <a:solidFill>
            <a:srgbClr val="154074"/>
          </a:solidFill>
          <a:ln>
            <a:noFill/>
          </a:ln>
        </p:spPr>
        <p:txBody>
          <a:bodyPr lIns="0" tIns="0" rIns="0" bIns="0" rtlCol="0" anchor="ctr"/>
          <a:lstStyle/>
          <a:p>
            <a:pPr algn="ctr"/>
            <a:endParaRPr lang="en-IN"/>
          </a:p>
        </p:txBody>
      </p:sp>
      <p:sp>
        <p:nvSpPr>
          <p:cNvPr id="4" name="TextBox 3"/>
          <p:cNvSpPr txBox="1"/>
          <p:nvPr userDrawn="1"/>
        </p:nvSpPr>
        <p:spPr>
          <a:xfrm>
            <a:off x="1618588" y="3743412"/>
            <a:ext cx="4523762" cy="1323439"/>
          </a:xfrm>
          <a:prstGeom prst="rect">
            <a:avLst/>
          </a:prstGeom>
          <a:noFill/>
        </p:spPr>
        <p:txBody>
          <a:bodyPr wrap="square" rtlCol="0">
            <a:spAutoFit/>
          </a:bodyPr>
          <a:lstStyle/>
          <a:p>
            <a:r>
              <a:rPr lang="en-US" sz="8000" b="1" spc="300" dirty="0">
                <a:solidFill>
                  <a:schemeClr val="bg1"/>
                </a:solidFill>
                <a:latin typeface="Allura" panose="02000000000000000000" pitchFamily="2" charset="0"/>
                <a:ea typeface="Montserrat" charset="0"/>
                <a:cs typeface="Montserrat" charset="0"/>
              </a:rPr>
              <a:t>Thank you</a:t>
            </a:r>
            <a:endParaRPr lang="en-US" sz="8000" b="1" spc="300" dirty="0">
              <a:solidFill>
                <a:schemeClr val="bg1"/>
              </a:solidFill>
              <a:latin typeface="Allura" panose="02000000000000000000" pitchFamily="2" charset="0"/>
              <a:ea typeface="Montserrat" charset="0"/>
              <a:cs typeface="Montserrat" charset="0"/>
            </a:endParaRPr>
          </a:p>
        </p:txBody>
      </p:sp>
      <p:cxnSp>
        <p:nvCxnSpPr>
          <p:cNvPr id="5" name="Straight Connector 4"/>
          <p:cNvCxnSpPr/>
          <p:nvPr userDrawn="1"/>
        </p:nvCxnSpPr>
        <p:spPr>
          <a:xfrm flipH="1">
            <a:off x="0" y="4576765"/>
            <a:ext cx="167375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2423" y="2226729"/>
            <a:ext cx="7799577" cy="4700071"/>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Pentagon 13"/>
          <p:cNvSpPr/>
          <p:nvPr userDrawn="1"/>
        </p:nvSpPr>
        <p:spPr bwMode="auto">
          <a:xfrm rot="16200000">
            <a:off x="11485560" y="6447395"/>
            <a:ext cx="409731" cy="411480"/>
          </a:xfrm>
          <a:prstGeom prst="homePlate">
            <a:avLst>
              <a:gd name="adj" fmla="val 28395"/>
            </a:avLst>
          </a:prstGeom>
          <a:gradFill>
            <a:gsLst>
              <a:gs pos="0">
                <a:schemeClr val="accent1"/>
              </a:gs>
              <a:gs pos="100000">
                <a:schemeClr val="accent2"/>
              </a:gs>
            </a:gsLst>
            <a:lin ang="2700000" scaled="0"/>
          </a:gradFill>
          <a:ln>
            <a:noFill/>
          </a:ln>
        </p:spPr>
        <p:txBody>
          <a:bodyPr lIns="0" tIns="0" rIns="0" bIns="0" rtlCol="0" anchor="ctr"/>
          <a:lstStyle/>
          <a:p>
            <a:pPr algn="ctr"/>
            <a:endParaRPr lang="en-US" sz="1100" dirty="0"/>
          </a:p>
        </p:txBody>
      </p:sp>
      <p:sp>
        <p:nvSpPr>
          <p:cNvPr id="15" name="Rectangle 14"/>
          <p:cNvSpPr/>
          <p:nvPr userDrawn="1"/>
        </p:nvSpPr>
        <p:spPr>
          <a:xfrm>
            <a:off x="11514095" y="6537179"/>
            <a:ext cx="351378" cy="261610"/>
          </a:xfrm>
          <a:prstGeom prst="rect">
            <a:avLst/>
          </a:prstGeom>
        </p:spPr>
        <p:txBody>
          <a:bodyPr wrap="none">
            <a:spAutoFit/>
          </a:bodyPr>
          <a:lstStyle/>
          <a:p>
            <a:pPr algn="ctr"/>
            <a:fld id="{260E2A6B-A809-4840-BF14-8648BC0BDF87}" type="slidenum">
              <a:rPr lang="id-ID" sz="1100" b="1" i="0" smtClean="0">
                <a:solidFill>
                  <a:schemeClr val="bg1"/>
                </a:solidFill>
                <a:latin typeface="+mn-lt"/>
                <a:ea typeface="Titillium" charset="0"/>
                <a:cs typeface="Titillium" charset="0"/>
              </a:rPr>
            </a:fld>
            <a:endParaRPr lang="en-US" sz="11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defTabSz="914400" rtl="0" eaLnBrk="1" latinLnBrk="0" hangingPunct="1">
        <a:lnSpc>
          <a:spcPct val="90000"/>
        </a:lnSpc>
        <a:spcBef>
          <a:spcPct val="0"/>
        </a:spcBef>
        <a:buNone/>
        <a:defRPr sz="2400" b="1"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C000"/>
                </a:solidFill>
                <a:latin typeface="Cambria" panose="02040503050406030204" pitchFamily="18" charset="0"/>
              </a:rPr>
              <a:t>PROJECT –  ZEROTH REVIEW</a:t>
            </a:r>
            <a:endParaRPr lang="en-IN" dirty="0">
              <a:solidFill>
                <a:srgbClr val="FFC000"/>
              </a:solidFill>
              <a:latin typeface="Cambria" panose="02040503050406030204" pitchFamily="18" charset="0"/>
            </a:endParaRPr>
          </a:p>
        </p:txBody>
      </p:sp>
      <p:sp>
        <p:nvSpPr>
          <p:cNvPr id="3" name="Content Placeholder 2"/>
          <p:cNvSpPr txBox="1"/>
          <p:nvPr/>
        </p:nvSpPr>
        <p:spPr>
          <a:xfrm>
            <a:off x="457199" y="1219200"/>
            <a:ext cx="11487873" cy="476491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None/>
            </a:pPr>
            <a:r>
              <a:rPr lang="en-US" sz="2000" b="1" dirty="0">
                <a:latin typeface="Times New Roman" panose="02020603050405020304" pitchFamily="18" charset="0"/>
                <a:cs typeface="Times New Roman" panose="02020603050405020304" pitchFamily="18" charset="0"/>
              </a:rPr>
              <a:t>Title of the Project: </a:t>
            </a:r>
            <a:r>
              <a:rPr lang="en-US" sz="1800" b="1" dirty="0">
                <a:latin typeface="Times New Roman" panose="02020603050405020304" pitchFamily="18" charset="0"/>
                <a:cs typeface="Times New Roman" panose="02020603050405020304" pitchFamily="18" charset="0"/>
              </a:rPr>
              <a:t> </a:t>
            </a: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Sovereign On-Premise Agentic AI Workbench using Open-Weight Multimodal LLMs for Confidential Industrial Work</a:t>
            </a:r>
            <a:endParaRPr lang="en-IN" sz="2000" dirty="0">
              <a:latin typeface="Times New Roman" panose="02020603050405020304" pitchFamily="18" charset="0"/>
              <a:cs typeface="Times New Roman" panose="02020603050405020304" pitchFamily="18" charset="0"/>
            </a:endParaRPr>
          </a:p>
          <a:p>
            <a:pPr marL="0" indent="0" algn="just">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	</a:t>
            </a:r>
            <a:endParaRPr 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C000"/>
                </a:solidFill>
                <a:latin typeface="Cambria" panose="02040503050406030204" pitchFamily="18" charset="0"/>
              </a:rPr>
              <a:t>ABSTRACT</a:t>
            </a:r>
            <a:endParaRPr lang="en-IN" dirty="0">
              <a:solidFill>
                <a:srgbClr val="FFC000"/>
              </a:solidFill>
              <a:latin typeface="Cambria" panose="02040503050406030204" pitchFamily="18" charset="0"/>
            </a:endParaRPr>
          </a:p>
        </p:txBody>
      </p:sp>
      <p:sp>
        <p:nvSpPr>
          <p:cNvPr id="3" name="Content Placeholder 2"/>
          <p:cNvSpPr txBox="1"/>
          <p:nvPr/>
        </p:nvSpPr>
        <p:spPr>
          <a:xfrm>
            <a:off x="297083" y="530352"/>
            <a:ext cx="11597833" cy="52120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lgn="just">
              <a:lnSpc>
                <a:spcPct val="150000"/>
              </a:lnSpc>
              <a:buNone/>
            </a:pPr>
            <a:r>
              <a:rPr lang="en-US" sz="2000" b="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 </a:t>
            </a:r>
            <a:endParaRPr lang="en-US" sz="1800" b="1" dirty="0">
              <a:latin typeface="Times New Roman" panose="02020603050405020304" pitchFamily="18" charset="0"/>
              <a:cs typeface="Times New Roman" panose="02020603050405020304" pitchFamily="18" charset="0"/>
            </a:endParaRPr>
          </a:p>
          <a:p>
            <a:pPr marL="0" indent="0" algn="just">
              <a:lnSpc>
                <a:spcPct val="150000"/>
              </a:lnSpc>
              <a:buNone/>
            </a:pPr>
            <a:r>
              <a:rPr lang="en-IN" sz="1600" dirty="0">
                <a:latin typeface="Times New Roman" panose="02020603050405020304" pitchFamily="18" charset="0"/>
                <a:cs typeface="Times New Roman" panose="02020603050405020304" pitchFamily="18" charset="0"/>
              </a:rPr>
              <a:t>Organizations such as refineries, public sector enterprises, defence-linked industries, and government offices handle large volumes of sensitive documents, engineering reports, internal code, scanned drawings, and confidential business information that cannot safely be processed using public cloud-based AI services. Existing AI assistants often depend on external infrastructure, limiting control over data privacy and model execution. This project proposes a </a:t>
            </a:r>
            <a:r>
              <a:rPr lang="en-IN" sz="1600" b="1" dirty="0">
                <a:latin typeface="Times New Roman" panose="02020603050405020304" pitchFamily="18" charset="0"/>
                <a:cs typeface="Times New Roman" panose="02020603050405020304" pitchFamily="18" charset="0"/>
              </a:rPr>
              <a:t>Sovereign On-Premise Agentic AI Workbench</a:t>
            </a:r>
            <a:r>
              <a:rPr lang="en-IN" sz="1600" dirty="0">
                <a:latin typeface="Times New Roman" panose="02020603050405020304" pitchFamily="18" charset="0"/>
                <a:cs typeface="Times New Roman" panose="02020603050405020304" pitchFamily="18" charset="0"/>
              </a:rPr>
              <a:t>, a self-hosted platform that combines multiple open-weight multimodal Large Language Models with intelligent model routing to select suitable local models for tasks such as document processing, coding, and visual understanding. The system uses an agentic orchestration layer to perform multi-step tasks by coordinating local tools for OCR, document processing, knowledge retrieval, calculations, sandboxed code execution, and file generation. A local Retrieval-Augmented Generation (RAG) component retrieves relevant information from organizational SOPs, manuals, reports, and other knowledge sources while keeping the data within the local environment. The system can process scanned documents and engineering images and generate practical deliverables such as Word, PowerPoint, and Excel files. Data sovereignty is further supported through local execution, audit logs, network monitoring, and restricted outbound communication. Together, these components aim to provide a secure, extensible, and practical alternative to cloud-based AI assistants for confidential industrial knowledge work.</a:t>
            </a:r>
            <a:endParaRPr lang="en-US" sz="1600" dirty="0">
              <a:latin typeface="Times New Roman" panose="02020603050405020304" pitchFamily="18" charset="0"/>
              <a:cs typeface="Times New Roman" panose="02020603050405020304" pitchFamily="18" charset="0"/>
            </a:endParaRPr>
          </a:p>
          <a:p>
            <a:endParaRPr lang="en-US" sz="1800" b="1"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Keywords: </a:t>
            </a:r>
            <a:r>
              <a:rPr lang="en-IN" sz="1800" i="1" dirty="0">
                <a:latin typeface="Times New Roman" panose="02020603050405020304" pitchFamily="18" charset="0"/>
                <a:cs typeface="Times New Roman" panose="02020603050405020304" pitchFamily="18" charset="0"/>
              </a:rPr>
              <a:t>On-Premise AI, Agentic AI, Open-Weight LLMs, Multimodal AI, RAG, Data Sovereignty</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2729" y="1"/>
            <a:ext cx="10059063" cy="873125"/>
          </a:xfrm>
        </p:spPr>
        <p:txBody>
          <a:bodyPr/>
          <a:lstStyle/>
          <a:p>
            <a:r>
              <a:rPr lang="en-IN" dirty="0">
                <a:solidFill>
                  <a:srgbClr val="FFC000"/>
                </a:solidFill>
                <a:latin typeface="Times New Roman" panose="02020603050405020304" pitchFamily="18" charset="0"/>
                <a:cs typeface="Times New Roman" panose="02020603050405020304" pitchFamily="18" charset="0"/>
              </a:rPr>
              <a:t>LITERATURE SURVEY</a:t>
            </a:r>
            <a:endParaRPr lang="en-IN" dirty="0">
              <a:solidFill>
                <a:srgbClr val="FFC000"/>
              </a:solidFill>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896341" y="989627"/>
            <a:ext cx="10506227" cy="52282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lgn="just">
              <a:lnSpc>
                <a:spcPct val="100000"/>
              </a:lnSpc>
              <a:buNone/>
            </a:pPr>
            <a:r>
              <a:rPr lang="en-US" sz="2000" b="1" dirty="0">
                <a:solidFill>
                  <a:schemeClr val="accent6"/>
                </a:solidFill>
                <a:latin typeface="Times New Roman" panose="02020603050405020304" pitchFamily="18" charset="0"/>
                <a:cs typeface="Times New Roman" panose="02020603050405020304" pitchFamily="18" charset="0"/>
              </a:rPr>
              <a:t>Base paper:</a:t>
            </a:r>
            <a:endParaRPr lang="en-US" sz="2000" b="1" dirty="0">
              <a:solidFill>
                <a:schemeClr val="accent6"/>
              </a:solidFill>
              <a:latin typeface="Times New Roman" panose="02020603050405020304" pitchFamily="18" charset="0"/>
              <a:cs typeface="Times New Roman" panose="02020603050405020304" pitchFamily="18" charset="0"/>
            </a:endParaRPr>
          </a:p>
          <a:p>
            <a:pPr marL="0" indent="0" algn="just">
              <a:buNone/>
            </a:pPr>
            <a:r>
              <a:rPr lang="en-IN" sz="1800" b="1" dirty="0">
                <a:solidFill>
                  <a:schemeClr val="accent6"/>
                </a:solidFill>
                <a:latin typeface="Times New Roman" panose="02020603050405020304" pitchFamily="18" charset="0"/>
                <a:cs typeface="Times New Roman" panose="02020603050405020304" pitchFamily="18" charset="0"/>
              </a:rPr>
              <a:t>T. </a:t>
            </a:r>
            <a:r>
              <a:rPr lang="en-IN" sz="1800" b="1" dirty="0" err="1">
                <a:solidFill>
                  <a:schemeClr val="accent6"/>
                </a:solidFill>
                <a:latin typeface="Times New Roman" panose="02020603050405020304" pitchFamily="18" charset="0"/>
                <a:cs typeface="Times New Roman" panose="02020603050405020304" pitchFamily="18" charset="0"/>
              </a:rPr>
              <a:t>Paloniemi</a:t>
            </a:r>
            <a:r>
              <a:rPr lang="en-IN" sz="1800" b="1" dirty="0">
                <a:solidFill>
                  <a:schemeClr val="accent6"/>
                </a:solidFill>
                <a:latin typeface="Times New Roman" panose="02020603050405020304" pitchFamily="18" charset="0"/>
                <a:cs typeface="Times New Roman" panose="02020603050405020304" pitchFamily="18" charset="0"/>
              </a:rPr>
              <a:t>, M. Setälä, and T. Mikkonen (2025). </a:t>
            </a:r>
            <a:r>
              <a:rPr lang="en-IN" sz="1800" b="1" i="1" dirty="0">
                <a:solidFill>
                  <a:schemeClr val="accent6"/>
                </a:solidFill>
                <a:latin typeface="Times New Roman" panose="02020603050405020304" pitchFamily="18" charset="0"/>
                <a:cs typeface="Times New Roman" panose="02020603050405020304" pitchFamily="18" charset="0"/>
              </a:rPr>
              <a:t>Porting an LLM based Application from ChatGPT to an On-Premise Environment.</a:t>
            </a:r>
            <a:r>
              <a:rPr lang="en-IN" sz="1800" b="1" dirty="0">
                <a:solidFill>
                  <a:schemeClr val="accent6"/>
                </a:solidFill>
                <a:latin typeface="Times New Roman" panose="02020603050405020304" pitchFamily="18" charset="0"/>
                <a:cs typeface="Times New Roman" panose="02020603050405020304" pitchFamily="18" charset="0"/>
              </a:rPr>
              <a:t> </a:t>
            </a:r>
            <a:r>
              <a:rPr lang="en-IN" sz="1800" b="1" i="1" dirty="0">
                <a:solidFill>
                  <a:schemeClr val="accent6"/>
                </a:solidFill>
                <a:latin typeface="Times New Roman" panose="02020603050405020304" pitchFamily="18" charset="0"/>
                <a:cs typeface="Times New Roman" panose="02020603050405020304" pitchFamily="18" charset="0"/>
              </a:rPr>
              <a:t>2025 IEEE/ACM 22nd International Conference on Software and Systems Reuse (ICSR)</a:t>
            </a:r>
            <a:r>
              <a:rPr lang="en-IN" sz="1800" b="1" dirty="0">
                <a:solidFill>
                  <a:schemeClr val="accent6"/>
                </a:solidFill>
                <a:latin typeface="Times New Roman" panose="02020603050405020304" pitchFamily="18" charset="0"/>
                <a:cs typeface="Times New Roman" panose="02020603050405020304" pitchFamily="18" charset="0"/>
              </a:rPr>
              <a:t>, Ottawa, ON, Canada, pp. 78–83, </a:t>
            </a:r>
            <a:r>
              <a:rPr lang="en-IN" sz="1800" b="1" dirty="0" err="1">
                <a:solidFill>
                  <a:schemeClr val="accent6"/>
                </a:solidFill>
                <a:latin typeface="Times New Roman" panose="02020603050405020304" pitchFamily="18" charset="0"/>
                <a:cs typeface="Times New Roman" panose="02020603050405020304" pitchFamily="18" charset="0"/>
              </a:rPr>
              <a:t>doi</a:t>
            </a:r>
            <a:r>
              <a:rPr lang="en-IN" sz="1800" b="1" dirty="0">
                <a:solidFill>
                  <a:schemeClr val="accent6"/>
                </a:solidFill>
                <a:latin typeface="Times New Roman" panose="02020603050405020304" pitchFamily="18" charset="0"/>
                <a:cs typeface="Times New Roman" panose="02020603050405020304" pitchFamily="18" charset="0"/>
              </a:rPr>
              <a:t>: 10.1109/ICSR66718.2025.00014.</a:t>
            </a:r>
            <a:endParaRPr lang="en-IN" sz="1800" b="1" dirty="0">
              <a:solidFill>
                <a:schemeClr val="accent6"/>
              </a:solidFill>
              <a:latin typeface="Times New Roman" panose="02020603050405020304" pitchFamily="18" charset="0"/>
              <a:cs typeface="Times New Roman" panose="02020603050405020304" pitchFamily="18" charset="0"/>
            </a:endParaRPr>
          </a:p>
          <a:p>
            <a:pPr marL="0" lvl="0" indent="0" algn="just">
              <a:lnSpc>
                <a:spcPct val="100000"/>
              </a:lnSpc>
              <a:buNone/>
            </a:pPr>
            <a:r>
              <a:rPr lang="en-IN" sz="1800" b="1" dirty="0">
                <a:latin typeface="Times New Roman" panose="02020603050405020304" pitchFamily="18" charset="0"/>
                <a:cs typeface="Times New Roman" panose="02020603050405020304" pitchFamily="18" charset="0"/>
              </a:rPr>
              <a:t>Objectives:</a:t>
            </a:r>
            <a:endParaRPr lang="en-IN" sz="1800" b="1" dirty="0">
              <a:latin typeface="Times New Roman" panose="02020603050405020304" pitchFamily="18" charset="0"/>
              <a:cs typeface="Times New Roman" panose="02020603050405020304" pitchFamily="18" charset="0"/>
            </a:endParaRPr>
          </a:p>
          <a:p>
            <a:pPr lvl="1"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To develop an on-premise LLM-based system for processing confidential data within an organization's infrastructure.</a:t>
            </a:r>
            <a:endParaRPr lang="en-IN" sz="1800" dirty="0">
              <a:latin typeface="Times New Roman" panose="02020603050405020304" pitchFamily="18" charset="0"/>
              <a:cs typeface="Times New Roman" panose="02020603050405020304" pitchFamily="18" charset="0"/>
            </a:endParaRPr>
          </a:p>
          <a:p>
            <a:pPr lvl="1"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To integrate open-weight language models as an alternative to externally hosted AI services.</a:t>
            </a:r>
            <a:endParaRPr lang="en-IN" sz="1800" dirty="0">
              <a:latin typeface="Times New Roman" panose="02020603050405020304" pitchFamily="18" charset="0"/>
              <a:cs typeface="Times New Roman" panose="02020603050405020304" pitchFamily="18" charset="0"/>
            </a:endParaRPr>
          </a:p>
          <a:p>
            <a:pPr lvl="1"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To evaluate the feasibility of running LLM applications on local hardware.</a:t>
            </a:r>
            <a:endParaRPr lang="en-IN" sz="1800" dirty="0">
              <a:latin typeface="Times New Roman" panose="02020603050405020304" pitchFamily="18" charset="0"/>
              <a:cs typeface="Times New Roman" panose="02020603050405020304" pitchFamily="18" charset="0"/>
            </a:endParaRPr>
          </a:p>
          <a:p>
            <a:pPr lvl="1"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To improve control over data privacy, model execution, and system configuration.</a:t>
            </a:r>
            <a:endParaRPr lang="en-IN" sz="1800" dirty="0">
              <a:latin typeface="Times New Roman" panose="02020603050405020304" pitchFamily="18" charset="0"/>
              <a:cs typeface="Times New Roman" panose="02020603050405020304" pitchFamily="18" charset="0"/>
            </a:endParaRPr>
          </a:p>
          <a:p>
            <a:pPr lvl="1"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To design an extensible local AI environment that can be adapted to organizational requirements.</a:t>
            </a:r>
            <a:endParaRPr lang="en-IN" sz="1800" dirty="0">
              <a:latin typeface="Times New Roman" panose="02020603050405020304" pitchFamily="18" charset="0"/>
              <a:cs typeface="Times New Roman" panose="02020603050405020304" pitchFamily="18" charset="0"/>
            </a:endParaRPr>
          </a:p>
          <a:p>
            <a:pPr marL="457200" lvl="0" indent="-457200" algn="just">
              <a:lnSpc>
                <a:spcPct val="100000"/>
              </a:lnSpc>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lvl="0" indent="-457200" algn="just">
              <a:lnSpc>
                <a:spcPct val="100000"/>
              </a:lnSpc>
              <a:buFont typeface="+mj-lt"/>
              <a:buAutoNum type="arabicPeriod"/>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Architecture</a:t>
            </a:r>
            <a:endParaRPr lang="en-IN" dirty="0"/>
          </a:p>
        </p:txBody>
      </p:sp>
      <p:pic>
        <p:nvPicPr>
          <p:cNvPr id="4" name="Picture 3"/>
          <p:cNvPicPr>
            <a:picLocks noChangeAspect="1"/>
          </p:cNvPicPr>
          <p:nvPr/>
        </p:nvPicPr>
        <p:blipFill>
          <a:blip r:embed="rId1"/>
          <a:stretch>
            <a:fillRect/>
          </a:stretch>
        </p:blipFill>
        <p:spPr>
          <a:xfrm>
            <a:off x="2587751" y="873126"/>
            <a:ext cx="7717537" cy="5489039"/>
          </a:xfrm>
          <a:prstGeom prst="rect">
            <a:avLst/>
          </a:prstGeom>
        </p:spPr>
      </p:pic>
    </p:spTree>
  </p:cSld>
  <p:clrMapOvr>
    <a:masterClrMapping/>
  </p:clrMapOvr>
</p:sld>
</file>

<file path=ppt/theme/theme1.xml><?xml version="1.0" encoding="utf-8"?>
<a:theme xmlns:a="http://schemas.openxmlformats.org/drawingml/2006/main" name="Office Theme">
  <a:themeElements>
    <a:clrScheme name="Custom 3">
      <a:dk1>
        <a:srgbClr val="000000"/>
      </a:dk1>
      <a:lt1>
        <a:srgbClr val="FFFFFF"/>
      </a:lt1>
      <a:dk2>
        <a:srgbClr val="000000"/>
      </a:dk2>
      <a:lt2>
        <a:srgbClr val="FFFFFF"/>
      </a:lt2>
      <a:accent1>
        <a:srgbClr val="002060"/>
      </a:accent1>
      <a:accent2>
        <a:srgbClr val="FF0000"/>
      </a:accent2>
      <a:accent3>
        <a:srgbClr val="FAA519"/>
      </a:accent3>
      <a:accent4>
        <a:srgbClr val="002060"/>
      </a:accent4>
      <a:accent5>
        <a:srgbClr val="48A1FA"/>
      </a:accent5>
      <a:accent6>
        <a:srgbClr val="034A90"/>
      </a:accent6>
      <a:hlink>
        <a:srgbClr val="0563C1"/>
      </a:hlink>
      <a:folHlink>
        <a:srgbClr val="2B5695"/>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gradFill>
          <a:gsLst>
            <a:gs pos="0">
              <a:schemeClr val="accent1"/>
            </a:gs>
            <a:gs pos="100000">
              <a:schemeClr val="accent2"/>
            </a:gs>
          </a:gsLst>
          <a:lin ang="2700000" scaled="0"/>
        </a:gradFill>
        <a:ln>
          <a:noFill/>
        </a:ln>
      </a:spPr>
      <a:bodyPr lIns="0" tIns="0" rIns="0" bIns="0"/>
      <a:lstStyle>
        <a:defPPr>
          <a:defRPr/>
        </a:defPPr>
      </a:lstStyle>
    </a:spDef>
    <a:lnDef>
      <a:spPr>
        <a:ln w="25400">
          <a:gradFill>
            <a:gsLst>
              <a:gs pos="0">
                <a:schemeClr val="accent1"/>
              </a:gs>
              <a:gs pos="100000">
                <a:schemeClr val="accent2"/>
              </a:gs>
            </a:gsLst>
            <a:lin ang="2700000" scaled="0"/>
          </a:gradFill>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2639</Words>
  <Application>WPS Presentation</Application>
  <PresentationFormat>Widescreen</PresentationFormat>
  <Paragraphs>30</Paragraphs>
  <Slides>4</Slides>
  <Notes>1</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4</vt:i4>
      </vt:variant>
    </vt:vector>
  </HeadingPairs>
  <TitlesOfParts>
    <vt:vector size="25" baseType="lpstr">
      <vt:lpstr>Arial</vt:lpstr>
      <vt:lpstr>SimSun</vt:lpstr>
      <vt:lpstr>Wingdings</vt:lpstr>
      <vt:lpstr>Titillium</vt:lpstr>
      <vt:lpstr>Arial</vt:lpstr>
      <vt:lpstr>Segoe UI</vt:lpstr>
      <vt:lpstr>Allura</vt:lpstr>
      <vt:lpstr>Montserrat</vt:lpstr>
      <vt:lpstr>Segoe Print</vt:lpstr>
      <vt:lpstr>Neris Thin</vt:lpstr>
      <vt:lpstr>Gulim</vt:lpstr>
      <vt:lpstr>Malgun Gothic</vt:lpstr>
      <vt:lpstr>Cambria</vt:lpstr>
      <vt:lpstr>BrowalliaUPC</vt:lpstr>
      <vt:lpstr>Arial Narrow</vt:lpstr>
      <vt:lpstr>Times New Roman</vt:lpstr>
      <vt:lpstr>Calibri</vt:lpstr>
      <vt:lpstr>Microsoft YaHei</vt:lpstr>
      <vt:lpstr>Arial Unicode MS</vt:lpstr>
      <vt:lpstr>Calibri Light</vt:lpstr>
      <vt:lpstr>Office Theme</vt:lpstr>
      <vt:lpstr>PROJECT –  ZEROTH REVIEW</vt:lpstr>
      <vt:lpstr>ABSTRACT</vt:lpstr>
      <vt:lpstr>LITERATURE SURVEY</vt:lpstr>
      <vt:lpstr>Architecture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Chanti</dc:creator>
  <cp:lastModifiedBy>bunny</cp:lastModifiedBy>
  <cp:revision>569</cp:revision>
  <cp:lastPrinted>2026-03-28T09:09:00Z</cp:lastPrinted>
  <dcterms:created xsi:type="dcterms:W3CDTF">2016-09-29T04:17:00Z</dcterms:created>
  <dcterms:modified xsi:type="dcterms:W3CDTF">2026-10-04T05:50:04Z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29FCA3A1377A4D5AADF66433A15D56F7_12</vt:lpwstr>
  </property>
  <property fmtid="{D5CDD505-2E9C-101B-9397-08002B2CF9AE}" pid="3" name="KSOProductBuildVer">
    <vt:lpwstr>1033-12.1.0.28485</vt:lpwstr>
  </property>
</Properties>
</file>